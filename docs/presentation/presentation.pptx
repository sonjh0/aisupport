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c17db46804c24" /><Relationship Type="http://schemas.openxmlformats.org/officeDocument/2006/relationships/extended-properties" Target="/docProps/app.xml" Id="R1fca01b44d3147aa" /><Relationship Type="http://schemas.openxmlformats.org/officeDocument/2006/relationships/officeDocument" Target="/ppt/presentation.xml" Id="Rab75a457b6394c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5f2552b5fe471d"/>
  </p:sldMasterIdLst>
  <p:notesMasterIdLst>
    <p:notesMasterId xmlns:r="http://schemas.openxmlformats.org/officeDocument/2006/relationships" r:id="Rb606214eb9d84d5a"/>
  </p:notesMasterIdLst>
  <p:sldIdLst>
    <p:sldId xmlns:r="http://schemas.openxmlformats.org/officeDocument/2006/relationships" id="256" r:id="Rb44e79c88acb4d1c"/>
    <p:sldId xmlns:r="http://schemas.openxmlformats.org/officeDocument/2006/relationships" id="257" r:id="R8249e785210f4a51"/>
    <p:sldId xmlns:r="http://schemas.openxmlformats.org/officeDocument/2006/relationships" id="258" r:id="Re401e1d80266475c"/>
    <p:sldId xmlns:r="http://schemas.openxmlformats.org/officeDocument/2006/relationships" id="259" r:id="R37414435c01c4533"/>
    <p:sldId xmlns:r="http://schemas.openxmlformats.org/officeDocument/2006/relationships" id="260" r:id="Rf7ff9a97f1d24dfd"/>
    <p:sldId xmlns:r="http://schemas.openxmlformats.org/officeDocument/2006/relationships" id="261" r:id="R5233978b1fa241e3"/>
    <p:sldId xmlns:r="http://schemas.openxmlformats.org/officeDocument/2006/relationships" id="262" r:id="Re207cf53e93c41cc"/>
    <p:sldId xmlns:r="http://schemas.openxmlformats.org/officeDocument/2006/relationships" id="263" r:id="R971793d235724488"/>
    <p:sldId xmlns:r="http://schemas.openxmlformats.org/officeDocument/2006/relationships" id="264" r:id="R37c0dd1173744259"/>
    <p:sldId xmlns:r="http://schemas.openxmlformats.org/officeDocument/2006/relationships" id="265" r:id="R7d52039b75414a09"/>
    <p:sldId xmlns:r="http://schemas.openxmlformats.org/officeDocument/2006/relationships" id="266" r:id="R3bc1d6c1110e4ae4"/>
    <p:sldId xmlns:r="http://schemas.openxmlformats.org/officeDocument/2006/relationships" id="267" r:id="R53a15d4bc4714216"/>
    <p:sldId xmlns:r="http://schemas.openxmlformats.org/officeDocument/2006/relationships" id="268" r:id="R88aa007ac91641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3af0df7d8548b0" /><Relationship Type="http://schemas.openxmlformats.org/officeDocument/2006/relationships/slideMaster" Target="/ppt/slideMasters/slideMaster1.xml" Id="R4c5f2552b5fe471d" /><Relationship Type="http://schemas.openxmlformats.org/officeDocument/2006/relationships/notesMaster" Target="/ppt/notesMasters/notesMaster1.xml" Id="Rb606214eb9d84d5a" /><Relationship Type="http://schemas.openxmlformats.org/officeDocument/2006/relationships/presProps" Target="/ppt/presProps.xml" Id="Rb44eeac893e1423d" /><Relationship Type="http://schemas.openxmlformats.org/officeDocument/2006/relationships/tableStyles" Target="/ppt/tableStyles.xml" Id="R5a2e8e20372b4c1b" /><Relationship Type="http://schemas.openxmlformats.org/officeDocument/2006/relationships/slide" Target="/ppt/slides/slide1.xml" Id="Rb44e79c88acb4d1c" /><Relationship Type="http://schemas.openxmlformats.org/officeDocument/2006/relationships/slide" Target="/ppt/slides/slide2.xml" Id="R8249e785210f4a51" /><Relationship Type="http://schemas.openxmlformats.org/officeDocument/2006/relationships/slide" Target="/ppt/slides/slide3.xml" Id="Re401e1d80266475c" /><Relationship Type="http://schemas.openxmlformats.org/officeDocument/2006/relationships/slide" Target="/ppt/slides/slide4.xml" Id="R37414435c01c4533" /><Relationship Type="http://schemas.openxmlformats.org/officeDocument/2006/relationships/slide" Target="/ppt/slides/slide5.xml" Id="Rf7ff9a97f1d24dfd" /><Relationship Type="http://schemas.openxmlformats.org/officeDocument/2006/relationships/slide" Target="/ppt/slides/slide6.xml" Id="R5233978b1fa241e3" /><Relationship Type="http://schemas.openxmlformats.org/officeDocument/2006/relationships/slide" Target="/ppt/slides/slide7.xml" Id="Re207cf53e93c41cc" /><Relationship Type="http://schemas.openxmlformats.org/officeDocument/2006/relationships/slide" Target="/ppt/slides/slide8.xml" Id="R971793d235724488" /><Relationship Type="http://schemas.openxmlformats.org/officeDocument/2006/relationships/slide" Target="/ppt/slides/slide9.xml" Id="R37c0dd1173744259" /><Relationship Type="http://schemas.openxmlformats.org/officeDocument/2006/relationships/slide" Target="/ppt/slides/slide10.xml" Id="R7d52039b75414a09" /><Relationship Type="http://schemas.openxmlformats.org/officeDocument/2006/relationships/slide" Target="/ppt/slides/slide11.xml" Id="R3bc1d6c1110e4ae4" /><Relationship Type="http://schemas.openxmlformats.org/officeDocument/2006/relationships/slide" Target="/ppt/slides/slide12.xml" Id="R53a15d4bc4714216" /><Relationship Type="http://schemas.openxmlformats.org/officeDocument/2006/relationships/slide" Target="/ppt/slides/slide13.xml" Id="R88aa007ac91641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91e0c754f743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6ac90ebd0443b" /><Relationship Type="http://schemas.openxmlformats.org/officeDocument/2006/relationships/notesMaster" Target="/ppt/notesMasters/notesMaster1.xml" Id="Raa2ec701d6f44e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99dab6ac444de9" /><Relationship Type="http://schemas.openxmlformats.org/officeDocument/2006/relationships/notesMaster" Target="/ppt/notesMasters/notesMaster1.xml" Id="R5496421db8b24c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f6410561124075" /><Relationship Type="http://schemas.openxmlformats.org/officeDocument/2006/relationships/notesMaster" Target="/ppt/notesMasters/notesMaster1.xml" Id="Rddeafac3a65241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91adf79e2c4403" /><Relationship Type="http://schemas.openxmlformats.org/officeDocument/2006/relationships/notesMaster" Target="/ppt/notesMasters/notesMaster1.xml" Id="R215bfc71dc6741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36f29a790d477d" /><Relationship Type="http://schemas.openxmlformats.org/officeDocument/2006/relationships/notesMaster" Target="/ppt/notesMasters/notesMaster1.xml" Id="R5e814365a76348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57b46df7b146d2" /><Relationship Type="http://schemas.openxmlformats.org/officeDocument/2006/relationships/notesMaster" Target="/ppt/notesMasters/notesMaster1.xml" Id="R5f0d04daccbd46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d4e4ebd370462f" /><Relationship Type="http://schemas.openxmlformats.org/officeDocument/2006/relationships/notesMaster" Target="/ppt/notesMasters/notesMaster1.xml" Id="R6c82465a132f44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6cb9fb59f44acd" /><Relationship Type="http://schemas.openxmlformats.org/officeDocument/2006/relationships/notesMaster" Target="/ppt/notesMasters/notesMaster1.xml" Id="Rcd35abb9b4d241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ca5d1baeea4c3b" /><Relationship Type="http://schemas.openxmlformats.org/officeDocument/2006/relationships/notesMaster" Target="/ppt/notesMasters/notesMaster1.xml" Id="R49e3d86d3deb4a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6799d9dce841f7" /><Relationship Type="http://schemas.openxmlformats.org/officeDocument/2006/relationships/notesMaster" Target="/ppt/notesMasters/notesMaster1.xml" Id="R7112c2ac7eac43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006fc15c8f4a77" /><Relationship Type="http://schemas.openxmlformats.org/officeDocument/2006/relationships/notesMaster" Target="/ppt/notesMasters/notesMaster1.xml" Id="R48544f40378649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c2430838904972" /><Relationship Type="http://schemas.openxmlformats.org/officeDocument/2006/relationships/notesMaster" Target="/ppt/notesMasters/notesMaster1.xml" Id="Rb9c99f0a249a41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412fbc43f64c34" /><Relationship Type="http://schemas.openxmlformats.org/officeDocument/2006/relationships/notesMaster" Target="/ppt/notesMasters/notesMaster1.xml" Id="R3d8fa720d9ab48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서비스: https://ai-job-assistant-xewt.onrender.com</a:t>
            </a:r>
          </a:p>
          <a:p xmlns:a="http://schemas.openxmlformats.org/drawingml/2006/main">
            <a:r>
              <a:t>저장소: https://github.com/SonJH0/aisupport</a:t>
            </a:r>
          </a:p>
          <a:p xmlns:a="http://schemas.openxmlformats.org/drawingml/2006/main">
            <a:r>
              <a:t>현재 구현·관찰·피드백에 근거한 제출 발표 자료. 최종 평가 통과를 확정한 자료는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https://github.com/SonJH0/aisupport/blob/main/docs/프로젝트-기획서.md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https://github.com/SonJH0/aisupport/blob/main/docs/요구사항-정의서.md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https://github.com/SonJH0/aisupport/blob/main/backend/main.py</a:t>
            </a:r>
          </a:p>
          <a:p xmlns:a="http://schemas.openxmlformats.org/drawingml/2006/main">
            <a:r>
              <a:t>출처: https://github.com/SonJH0/aisupport/blob/main/docs/요구사항-정의서.md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https://github.com/SonJH0/aisupport/blob/main/ai/agent.py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https://github.com/SonJH0/aisupport/blob/main/ai/retrieval.py</a:t>
            </a:r>
          </a:p>
          <a:p xmlns:a="http://schemas.openxmlformats.org/drawingml/2006/main">
            <a:r>
              <a:t>출처: https://github.com/SonJH0/aisupport/blob/main/data/knowledge.json</a:t>
            </a:r>
          </a:p>
          <a:p xmlns:a="http://schemas.openxmlformats.org/drawingml/2006/main">
            <a:r>
              <a:t>출처: https://github.com/SonJH0/aisupport/blob/main/ai/agent.py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https://github.com/SonJH0/aisupport/blob/main/docs/verification/search-filter-change.md</a:t>
            </a:r>
          </a:p>
          <a:p xmlns:a="http://schemas.openxmlformats.org/drawingml/2006/main">
            <a:r>
              <a:t>출처: https://github.com/SonJH0/aisupport/blob/main/docs/verification/incruit-filter-fix.md</a:t>
            </a:r>
          </a:p>
          <a:p xmlns:a="http://schemas.openxmlformats.org/drawingml/2006/main">
            <a:r>
              <a:t>출처: https://github.com/SonJH0/aisupport/commit/e101485</a:t>
            </a:r>
          </a:p>
          <a:p xmlns:a="http://schemas.openxmlformats.org/drawingml/2006/main">
            <a:r>
              <a:t>최신 원문·판정: https://github.com/SonJH0/aisupport/blob/main/docs/verification/latest-text-revalidation.md</a:t>
            </a:r>
          </a:p>
          <a:p xmlns:a="http://schemas.openxmlformats.org/drawingml/2006/main">
            <a:r>
              <a:t>수집 스크립트는 실행 중 배포 SHA를 독립 관찰하지 않았다. 최신 비교 3/3, 상담 1건·검색 2건의 선택 시험. 전체 기능 새 3회 시험으로 합산하지 않는다.</a:t>
            </a:r>
          </a:p>
          <a:p xmlns:a="http://schemas.openxmlformats.org/drawingml/2006/main">
            <a:r>
              <a:t>최신 원문·판정: https://github.com/SonJH0/aisupport/blob/main/docs/verification/postdeploy-3719c28.md</a:t>
            </a:r>
          </a:p>
          <a:p xmlns:a="http://schemas.openxmlformats.org/drawingml/2006/main">
            <a:r>
              <a:t>사용자 제공 Render 화면에서 source 3719c28·Live 확인. 배포 후 학습 상담 UI 3회·동의 절차 3회, 기존 검색·비교·이미지는 별도 시점의 기록으로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https://github.com/SonJH0/aisupport/blob/main/docs/verification/deployment-validation.md</a:t>
            </a:r>
          </a:p>
          <a:p xmlns:a="http://schemas.openxmlformats.org/drawingml/2006/main">
            <a:r>
              <a:t>출처: https://github.com/SonJH0/aisupport/blob/main/docs/verification/incruit-filter-tests.xml</a:t>
            </a:r>
          </a:p>
          <a:p xmlns:a="http://schemas.openxmlformats.org/drawingml/2006/main">
            <a:r>
              <a:t>출처: https://github.com/SonJH0/aisupport/blob/main/docs/image-validation/image-validation.md</a:t>
            </a:r>
          </a:p>
          <a:p xmlns:a="http://schemas.openxmlformats.org/drawingml/2006/main">
            <a:r>
              <a:t>최신 원문·판정: https://github.com/SonJH0/aisupport/blob/main/docs/verification/latest-text-revalidation.md</a:t>
            </a:r>
          </a:p>
          <a:p xmlns:a="http://schemas.openxmlformats.org/drawingml/2006/main">
            <a:r>
              <a:t>수집 스크립트는 실행 중 배포 SHA를 독립 관찰하지 않았다. 최신 비교 3/3, 상담 1건·검색 2건의 선택 시험. 전체 기능 새 3회 시험으로 합산하지 않는다.</a:t>
            </a:r>
          </a:p>
          <a:p xmlns:a="http://schemas.openxmlformats.org/drawingml/2006/main">
            <a:r>
              <a:t>최신 원문·판정: https://github.com/SonJH0/aisupport/blob/main/docs/verification/postdeploy-3719c28.md</a:t>
            </a:r>
          </a:p>
          <a:p xmlns:a="http://schemas.openxmlformats.org/drawingml/2006/main">
            <a:r>
              <a:t>사용자 제공 Render 화면에서 source 3719c28·Live 확인. 배포 후 학습 상담 UI 3회·동의 절차 3회, 기존 검색·비교·이미지는 별도 시점의 기록으로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https://github.com/SonJH0/aisupport/blob/main/ai/vision.py</a:t>
            </a:r>
          </a:p>
          <a:p xmlns:a="http://schemas.openxmlformats.org/drawingml/2006/main">
            <a:r>
              <a:t>출처: https://github.com/SonJH0/aisupport/blob/main/docs/image-validation/image-validation.md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https://github.com/SonJH0/aisupport/blob/main/docs/사용자-피드백-기록.md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https://github.com/SonJH0/aisupport/blob/main/docs/사용자-피드백-기록.md</a:t>
            </a:r>
          </a:p>
          <a:p xmlns:a="http://schemas.openxmlformats.org/drawingml/2006/main">
            <a:r>
              <a:t>최신 원문·판정: https://github.com/SonJH0/aisupport/blob/main/docs/verification/latest-text-revalidation.md</a:t>
            </a:r>
          </a:p>
          <a:p xmlns:a="http://schemas.openxmlformats.org/drawingml/2006/main">
            <a:r>
              <a:t>수집 스크립트는 실행 중 배포 SHA를 독립 관찰하지 않았다. 최신 비교 3/3, 상담 1건·검색 2건의 선택 시험. 전체 기능 새 3회 시험으로 합산하지 않는다.</a:t>
            </a:r>
          </a:p>
          <a:p xmlns:a="http://schemas.openxmlformats.org/drawingml/2006/main">
            <a:r>
              <a:t>최신 원문·판정: https://github.com/SonJH0/aisupport/blob/main/docs/verification/postdeploy-3719c28.md</a:t>
            </a:r>
          </a:p>
          <a:p xmlns:a="http://schemas.openxmlformats.org/drawingml/2006/main">
            <a:r>
              <a:t>사용자 제공 Render 화면에서 source 3719c28·Live 확인. 배포 후 학습 상담 UI 3회·동의 절차 3회, 기존 검색·비교·이미지는 별도 시점의 기록으로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https://github.com/SonJH0/aisupport/blob/main/docs/팀원별-기여.md</a:t>
            </a:r>
          </a:p>
          <a:p xmlns:a="http://schemas.openxmlformats.org/drawingml/2006/main">
            <a:r>
              <a:t>출처: https://github.com/SonJH0/aisupport/blob/main/frontend/index.html</a:t>
            </a:r>
          </a:p>
          <a:p xmlns:a="http://schemas.openxmlformats.org/drawingml/2006/main">
            <a:r>
              <a:t>출처: https://github.com/SonJH0/aisupport/blob/main/backend/main.py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https://github.com/SonJH0/aisupport/blob/main/docs/진행-및-제출현황.md</a:t>
            </a:r>
          </a:p>
          <a:p xmlns:a="http://schemas.openxmlformats.org/drawingml/2006/main">
            <a:r>
              <a:t>출처: https://github.com/SonJH0/aisupport/blob/main/docs/요구사항-정의서.md</a:t>
            </a:r>
          </a:p>
          <a:p xmlns:a="http://schemas.openxmlformats.org/drawingml/2006/main">
            <a:r>
              <a:t>최신 원문·판정: https://github.com/SonJH0/aisupport/blob/main/docs/verification/latest-text-revalidation.md</a:t>
            </a:r>
          </a:p>
          <a:p xmlns:a="http://schemas.openxmlformats.org/drawingml/2006/main">
            <a:r>
              <a:t>수집 스크립트는 실행 중 배포 SHA를 독립 관찰하지 않았다. 최신 비교 3/3, 상담 1건·검색 2건의 선택 시험. 전체 기능 새 3회 시험으로 합산하지 않는다.</a:t>
            </a:r>
          </a:p>
          <a:p xmlns:a="http://schemas.openxmlformats.org/drawingml/2006/main">
            <a:r>
              <a:t>최신 원문·판정: https://github.com/SonJH0/aisupport/blob/main/docs/verification/postdeploy-3719c28.md</a:t>
            </a:r>
          </a:p>
          <a:p xmlns:a="http://schemas.openxmlformats.org/drawingml/2006/main">
            <a:r>
              <a:t>사용자 제공 Render 화면에서 source 3719c28·Live 확인. 배포 후 학습 상담 UI 3회·동의 절차 3회, 기존 검색·비교·이미지는 별도 시점의 기록으로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d93e0c94c4c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4f8551bca46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1a0ed9c1b4b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ee4574d9d4c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382320d3b4c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f644bf20c45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6434E8-A64E-4CC2-AB46-F733DD0B9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EA5D19-3E2F-4746-83EE-D8751085D8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612446-2209-4380-A0C1-2AF079348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BC0B10-ADF6-46B2-9B4D-DB05925BD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309B1B-DB08-4343-9D16-85FA25B869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A49449-DC4A-46E9-BC14-17B11F7741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935732-B972-4DF0-B52F-884947316C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48D588-27D6-40DB-B9DE-92F34641EF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257649-819E-4DD3-A693-0899CA5B6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5194EB-93DD-4457-9E4A-B77BA71B2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024ac006c547cd" /><Relationship Type="http://schemas.openxmlformats.org/officeDocument/2006/relationships/slideLayout" Target="/ppt/slideLayouts/slideLayout1.xml" Id="R398ee19d82784925" /><Relationship Type="http://schemas.openxmlformats.org/officeDocument/2006/relationships/slideLayout" Target="/ppt/slideLayouts/slideLayout2.xml" Id="R31c7e5e8ecd94dc4" /><Relationship Type="http://schemas.openxmlformats.org/officeDocument/2006/relationships/slideLayout" Target="/ppt/slideLayouts/slideLayout3.xml" Id="R423277639b50412c" /><Relationship Type="http://schemas.openxmlformats.org/officeDocument/2006/relationships/slideLayout" Target="/ppt/slideLayouts/slideLayout4.xml" Id="R7d8917daffa74e1f" /><Relationship Type="http://schemas.openxmlformats.org/officeDocument/2006/relationships/slideLayout" Target="/ppt/slideLayouts/slideLayout5.xml" Id="Red5fd12f668d4906" /><Relationship Type="http://schemas.openxmlformats.org/officeDocument/2006/relationships/slideLayout" Target="/ppt/slideLayouts/slideLayout6.xml" Id="Rb9e6211a77f2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ee19d82784925"/>
    <p:sldLayoutId xmlns:r="http://schemas.openxmlformats.org/officeDocument/2006/relationships" id="2147483650" r:id="R31c7e5e8ecd94dc4"/>
    <p:sldLayoutId xmlns:r="http://schemas.openxmlformats.org/officeDocument/2006/relationships" id="2147483651" r:id="R423277639b50412c"/>
    <p:sldLayoutId xmlns:r="http://schemas.openxmlformats.org/officeDocument/2006/relationships" id="2147483652" r:id="R7d8917daffa74e1f"/>
    <p:sldLayoutId xmlns:r="http://schemas.openxmlformats.org/officeDocument/2006/relationships" id="2147483653" r:id="Red5fd12f668d4906"/>
    <p:sldLayoutId xmlns:r="http://schemas.openxmlformats.org/officeDocument/2006/relationships" id="2147483654" r:id="Rb9e6211a77f2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1cc873ae54c99" /><Relationship Type="http://schemas.openxmlformats.org/officeDocument/2006/relationships/notesSlide" Target="/ppt/notesSlides/notesSlide1.xml" Id="R128cd07ad28345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198dbc99e44ba" /><Relationship Type="http://schemas.openxmlformats.org/officeDocument/2006/relationships/notesSlide" Target="/ppt/notesSlides/notesSlide2.xml" Id="Rf5ae912615fd4b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5b281841a4f37" /><Relationship Type="http://schemas.openxmlformats.org/officeDocument/2006/relationships/notesSlide" Target="/ppt/notesSlides/notesSlide3.xml" Id="R0f6774863a0b45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34683cb8d418f" /><Relationship Type="http://schemas.openxmlformats.org/officeDocument/2006/relationships/notesSlide" Target="/ppt/notesSlides/notesSlide4.xml" Id="R101e834698554b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d21fcf6b04c8a" /><Relationship Type="http://schemas.openxmlformats.org/officeDocument/2006/relationships/notesSlide" Target="/ppt/notesSlides/notesSlide5.xml" Id="R04d71d40c8774d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71427b16b4be4" /><Relationship Type="http://schemas.openxmlformats.org/officeDocument/2006/relationships/notesSlide" Target="/ppt/notesSlides/notesSlide6.xml" Id="Rf33933f94b644b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a007941a74cf1" /><Relationship Type="http://schemas.openxmlformats.org/officeDocument/2006/relationships/notesSlide" Target="/ppt/notesSlides/notesSlide7.xml" Id="R5a99e5781e6e45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3184774cb47d8" /><Relationship Type="http://schemas.openxmlformats.org/officeDocument/2006/relationships/notesSlide" Target="/ppt/notesSlides/notesSlide8.xml" Id="R4e199e13824c4a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a3fce3ba84a06" /><Relationship Type="http://schemas.openxmlformats.org/officeDocument/2006/relationships/image" Target="/ppt/media/image.png" Id="Rba30aee1e2194648" /><Relationship Type="http://schemas.openxmlformats.org/officeDocument/2006/relationships/notesSlide" Target="/ppt/notesSlides/notesSlide9.xml" Id="R956631e1e6c84e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7eaa173b2418a" /><Relationship Type="http://schemas.openxmlformats.org/officeDocument/2006/relationships/notesSlide" Target="/ppt/notesSlides/notesSlide10.xml" Id="R3b9ca190c1d34b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7d63cde034759" /><Relationship Type="http://schemas.openxmlformats.org/officeDocument/2006/relationships/notesSlide" Target="/ppt/notesSlides/notesSlide11.xml" Id="Rd134b2ed8c1a46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efbcf04de04aad" /><Relationship Type="http://schemas.openxmlformats.org/officeDocument/2006/relationships/notesSlide" Target="/ppt/notesSlides/notesSlide12.xml" Id="Raf951b46b95b44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d29e71bb44406" /><Relationship Type="http://schemas.openxmlformats.org/officeDocument/2006/relationships/notesSlide" Target="/ppt/notesSlides/notesSlide13.xml" Id="Rfe97a3383bb346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7A52E15-4BE9-4706-8271-6323FD4A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E8062D-0077-44F3-8375-D2866622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B9C9E7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CF6056-11A1-4310-8285-94FAEBCC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D2E7674-603F-4806-837F-9FB90593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42CC117-0866-4F2D-AB70-E87482FC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0">
                <a:solidFill>
                  <a:srgbClr val="DCE7FF"/>
                </a:solidFill>
                <a:latin typeface="Noto Sans KR"/>
                <a:ea typeface="Noto Sans KR"/>
                <a:cs typeface="Noto Sans KR"/>
              </a:rPr>
              <a:t>공고와 경험을 근거로 정리하는 취업 준비 도우미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5A50702-0E20-46F4-B77E-F95592C5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손재형 · 손재윤 · 황준식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8B8BF83-7E73-433B-891C-7D10E16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B9C9E7"/>
                </a:solidFill>
                <a:latin typeface="Noto Sans KR"/>
                <a:ea typeface="Noto Sans KR"/>
                <a:cs typeface="Noto Sans KR"/>
              </a:rPr>
              <a:t>코디세이 AI Native Final Project  /  2026.10.29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95A8CEE-0A1B-47C3-A63A-78AB20A9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DCE7FF"/>
                </a:solidFill>
                <a:latin typeface="Noto Sans KR"/>
                <a:ea typeface="Noto Sans KR"/>
                <a:cs typeface="Noto Sans KR"/>
              </a:rPr>
              <a:t>ai-job-assistant-xewt.onrender.com</a:t>
            </a:r>
          </a:p>
        </p:txBody>
      </p:sp>
    </p:spTree>
    <p:extLst>
      <p:ext uri="{BB962C8B-B14F-4D97-AF65-F5344CB8AC3E}">
        <p14:creationId xmlns:p14="http://schemas.microsoft.com/office/powerpoint/2010/main" val="1786747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6B240631-D0F7-407D-B326-4BC7DDBC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문제와 대상 사용자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2AAC70-3B9C-4855-B5C2-76DB09D6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취업 준비 과정에서 자료 탐색과 경험 정리를 돕고자 했습니다.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7AC2EF-0951-4079-94C6-9039165C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C06EF9-B08B-4DC9-BCD6-20A46905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EFE34B-2010-4662-9758-22140165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대상 사용자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E9C5C59-3023-4488-84B6-E47FF81D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4819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채용공고를 읽고 자신의 경험을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정리하려는 구직·이직 준비자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7AA7DB-0F42-4916-AF86-8594E8C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해결하려는 불편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096254E-0238-4AE1-BE01-B4C7FC2E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67025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관련 학습 자료를 찾기 어려움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공고 요건과 경험 비교의 부담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미기재 경험을 단정하는 AI 답변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98FB4AE-B0B6-47A8-A294-D66207F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문제 가설을 바탕으로 구현했습니다. 시간 절감·취업 성과를 수치로 측정하지는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946352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34689A4-E482-42B8-8861-76D459CA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서비스의 네 가지 기능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89F31E-C97C-4A86-A190-AADB338C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로그인 없이 질문·경험·공고 또는 이미지를 입력합니다.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ED8FCA-3ACA-470F-AFC0-3E3B770D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0B09A0-C510-4A25-ADDC-571FEC14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C3681-94A2-45A8-8A1E-93DF8DB6556C}"/>
              </a:ext>
            </a:extLst>
          </p:cNvPr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333750"/>
                <a:gridCol w="55626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제공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상담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취업·학습 질문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검색과 출처를 활용한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공고 후보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직무·기술·신입 조건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검색 링크와 조건 확인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적합도 비교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채용공고 본문과 내 경험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일치·차이·정보 부족 및 보완점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 분석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공고 이미지와 질문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 판독과 미제공 정보 구분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4166687-87B3-497C-AF41-C69B0CA3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답변은 참고용입니다. 공고 원문·모집 상태와 실제 지원 요건은 별도로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588879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EAEDDFE-A36F-4B53-A95F-3516C87F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시스템 구성과 기술 선택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0C3E17-41CA-4B47-9D78-F3EEA66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Render의 FastAPI 서버가 화면과 API를 함께 제공합니다.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803F52-FB57-4189-A93A-78015D5E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3143825-D90E-4571-81BA-17A1CC6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B5DFA-50AC-4D9E-B72C-BE6377868319}"/>
              </a:ext>
            </a:extLst>
          </p:cNvPr>
          <p:cNvGraphicFramePr/>
          <p:nvPr/>
        </p:nvGraphicFramePr>
        <p:xfrm>
          <a:off xmlns:a="http://schemas.openxmlformats.org/drawingml/2006/main" x="647700" y="2000250"/>
          <a:ext xmlns:a="http://schemas.openxmlformats.org/drawingml/2006/main" cx="108966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476750"/>
                <a:gridCol w="48006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이유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HTML · CSS · JavaScript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별도 빌드 없이 질문·첨부·결과 화면 제공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Python · FastAPI · Pydantic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코드 통합과 입력·동의 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텍스트·이미지 AI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코디세이 OpenAI / Claude 호환 API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도구 선택·상담과 이미지 직접 해석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검색·배포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로컬 JSON / Brave Search / Render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근거 검색과 공고 후보 확보·공개 접속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AEA9BAB-6872-4E18-9373-509A47BB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브라우저 요청을 검증한 뒤 텍스트 Agent 또는 이미지 모델 경로로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1055839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66B98B2-CC0B-4B44-A3DF-56F7AE70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Agent의 도구 선택과 실행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780AA3-A365-476A-9785-F0BE5FAB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LLM이 도구와 인자를 선택하고, 서버가 검사 후 실제 함수를 실행합니다.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1617FF-2F65-437B-962F-DFDA04D1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0BF2B92-84EA-49C5-8710-427B951A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89A91-5C4E-4F37-8E2F-F7B96B167F83}"/>
              </a:ext>
            </a:extLst>
          </p:cNvPr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108966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19850"/>
              </a:tblGrid>
              <a:tr h="6477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가능한 도구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search_documents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질문과 관련된 문서 본문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search_live_jobs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인터넷에서 공고 후보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get_job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저장된 공고 ID 상세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compare_requirements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사용자가 입력한 공고와 경험 비교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0912D10-26BB-431B-AB4D-9C0D1D55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네이티브 tool_calls를 우선 사용합니다. 미지원 시 JSON 계획을 검증·실행합니다.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JSON 경로는 단일 계획 후 실행이며, 여러 번 재계획했다고 주장하지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79356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3382ACA1-BD08-425B-8786-C4AAE32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RAG의 질문별 문서 검색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2296AD6-80E7-4D81-BE2D-68DF3D6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외부 공식 문서의 팀 요약과 저장 공고 후보 본문을 검색합니다.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83CE05-0C4B-4EE4-BC49-53A1C233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2BC1B1-A7CB-4394-934B-C1D302F1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748455D-A9AA-47B0-9240-09CE8B91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검색 방식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D5321E4-6013-4ED0-8817-326D5899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523875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학습 질문마다 TF-IDF·코사인 유사도로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관련 문단을 찾습니다.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검색 본문과 문단 ID를 LLM에 넣고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답변에서 사용한 출처를 표시합니다.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6083D-072C-4E12-B3FC-E32E1048BFED}"/>
              </a:ext>
            </a:extLst>
          </p:cNvPr>
          <p:cNvGraphicFramePr/>
          <p:nvPr/>
        </p:nvGraphicFramePr>
        <p:xfrm>
          <a:off xmlns:a="http://schemas.openxmlformats.org/drawingml/2006/main" x="6324600" y="2133600"/>
          <a:ext xmlns:a="http://schemas.openxmlformats.org/drawingml/2006/main" cx="52197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280035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질문 예시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검색 근거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API 요청·입력 검증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FastAPI / backend-1·2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HTML 폼·접근성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MDN / frontend-1·2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 결합·요약 통계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pandas / data-1·2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28FC3F8-D923-48CF-88D5-D30D05AA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고정 문구를 항상 붙이는 방식과 구분됩니다. 의미 임베딩은 사용하지 않으며 자료집 규모에 한계가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67586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5C9A736-B4EF-4BDA-8328-99B65767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기술 테스트에서 발견한 문제와 보완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585F51-D878-4982-A9DE-FF7D054F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홈페이지 혼입과 경험 분류를 후속 기술 시험으로 보완했습니다.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146696-88AC-414E-BD55-FF77ECD0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0C32B12-7543-4297-84A4-D6907F56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9F7C6-BED0-4A08-80E8-B9B19F6BAAA3}"/>
              </a:ext>
            </a:extLst>
          </p:cNvPr>
          <p:cNvGraphicFramePr/>
          <p:nvPr/>
        </p:nvGraphicFramePr>
        <p:xfrm>
          <a:off xmlns:a="http://schemas.openxmlformats.org/drawingml/2006/main" x="647700" y="20288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5943600"/>
              </a:tblGrid>
              <a:tr h="6858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발견한 문제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홈페이지·검색 목록이 공고에 혼입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루트 홈페이지 제외·개별 공고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경험 유무와 숙련도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경험 상태와 숙련도 확인 분리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기술·신입 여부가 불명확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요약 기준 조건 일치 / 추가 확인 필요 구분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원치 않는 검색·비교 출처 혼입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검색 의도 확인·비교 초기 검색 생략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A236FF2-AC70-4B50-8B55-7FFFA92F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홈페이지·경험 분류 보완 후 3719c28에서 학습 계획 복구를 추가했습니다. 이전 실패도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138386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1E59976-2337-4EE9-BEF6-B5637DED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기능 검증 결과와 범위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FD21A6-553B-4C8E-B55E-9A04A8D4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3719c28 배포 후 상담 화면 3회와 기존 기능 검증을 구분했습니다.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CB2043-94BE-47E6-BAB3-8FB183FE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6C48755-7601-47BF-ADF9-384B1C8C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8813D-76C4-400A-82D2-5B40AF2A7D17}"/>
              </a:ext>
            </a:extLst>
          </p:cNvPr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81500"/>
                <a:gridCol w="44196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관찰 범위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기록한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배포 후 FastAPI·MDN·pandas 3회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3/3 관련 자료·출처·조언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공고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Java·React API / 후속 Python 화면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개별 후보·링크·홈페이지 미노출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경험 비교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최신 비교 입력 3건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3/3 핵심 기대 결과 충족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 분석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API 3회 / 사용자 화면 3회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각 시험의 핵심 기대 결과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C63CFB4-0BA1-4821-A3FD-CE8E15EC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자동 검사 120개. 배포 후 학습 상담·동의 절차 3/3 확인. 과거 계획 오류·502 기록은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120743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AC73655-841C-4BF7-BA0F-2C7EF16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이미지 입력의 실제 판독 사례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A21C246-1F89-45D2-84CF-53C6490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텍스트 질문에 없는 이미지 속 요건을 읽고 경험과 비교했습니다.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05B0E7-02AA-46E0-AFA2-DDD90C7E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B13F02-26FC-408C-9A5D-E97EB07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6254C-1424-44D7-A890-A9B1C2603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0aee1e2194648"/>
          <a:stretch xmlns:a="http://schemas.openxmlformats.org/drawingml/2006/main"/>
        </p:blipFill>
        <p:spPr>
          <a:xfrm xmlns:a="http://schemas.openxmlformats.org/drawingml/2006/main">
            <a:off x="621564" y="2057400"/>
            <a:ext cx="5910146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4D0F586-AEF1-43B3-86A3-AF7560DD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52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확인한 분류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F928B4F-5CDE-4217-96BE-B720F7A7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71775"/>
            <a:ext cx="4572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Python 2년 요건 / 경험 1년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명시된 차이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SQL 프로젝트 경험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AWS 경험 미기재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정보 부족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5FD6B94-02A4-4CCC-82E9-75A97656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436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그 외 미제공 정보와 카페 영수증도 시험했습니다. 이미지 출처 관련성·화면 가독성은 개선점으로 남았습니다.</a:t>
            </a:r>
          </a:p>
        </p:txBody>
      </p:sp>
    </p:spTree>
    <p:extLst>
      <p:ext uri="{BB962C8B-B14F-4D97-AF65-F5344CB8AC3E}">
        <p14:creationId xmlns:p14="http://schemas.microsoft.com/office/powerpoint/2010/main" val="8587480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8BF218F-EA0D-4A90-BBE1-59F3A5B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실사용자 5명의 피드백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2143E1-EC93-464B-9991-E3C2886F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2026.10.28 이용·응답. 개발 직무 준비생 5명, 팀원 제외·익명 활용 동의.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ED858A3-AA8B-4E4A-90E7-2F727611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5D2CC4F-54B4-4877-A396-8BCF9142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29DDF-4FC5-4886-984C-2605403E98DF}"/>
              </a:ext>
            </a:extLst>
          </p:cNvPr>
          <p:cNvGraphicFramePr/>
          <p:nvPr/>
        </p:nvGraphicFramePr>
        <p:xfrm>
          <a:off xmlns:a="http://schemas.openxmlformats.org/drawingml/2006/main" x="647700" y="2019300"/>
          <a:ext xmlns:a="http://schemas.openxmlformats.org/drawingml/2006/main" cx="108966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2857500"/>
                <a:gridCol w="7162800"/>
              </a:tblGrid>
              <a:tr h="6080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확인된 강점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의견 원문 발췌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</a:tr>
              <a:tr h="6080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비교와 준비 우선순위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어떤 부분부터 우선순위를 두고 준비해야 할지 파악하기 쉬웠음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080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미기재 경험의 신중한 해석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신중하게 안내해 준다는 느낌을 받아 신뢰가 갔습니다.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참고 자료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자료로 바로 이동할 수 있어서 효율적으로 대처할 수 있었다.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080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공고 이미지 첨부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 시간을 확 줄여줘서 만족스럽습니다.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진입과 기능 구분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 과정 없이 바로 사용할 수 있어서 접근성이 좋았어요.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5C49175-85E9-48D4-8E3B-5698871A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대상·날짜·동의는 프로젝트 담당자 확인입니다. 시간 절감은 체감 의견이며 정량 측정 결과가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481565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AF05FD3-4C6E-4DC7-BF28-D4E08723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피드백 이후의 검토 결과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9D041C-F94C-41D5-BADD-6AF25636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긍정적 의견과 추가 개발 요청의 유무를 구분했습니다.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73F420-93AB-4D51-ACDA-7043FBC8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28E72D2-6046-4500-AC61-EE646643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FBFE178-A150-4DEE-8BD8-C3C501EA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피드백에 따른 기능 수정 없음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CA22B2-55B1-419E-8864-A24ED2F7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다섯 의견 모두 긍정적이었고 별도의 수정 요청이 없어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현재 기능을 유지하기로 했습니다.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E4DF3D-36B5-4354-A59C-057AC099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긍정적 의견은 기능 유지로 반영했습니다.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후속 bb1885e·4d0295b 수정은 별도 기술 시험에서 발견한 오류에 따른 작업입니다.</a:t>
            </a:r>
          </a:p>
        </p:txBody>
      </p:sp>
    </p:spTree>
    <p:extLst>
      <p:ext uri="{BB962C8B-B14F-4D97-AF65-F5344CB8AC3E}">
        <p14:creationId xmlns:p14="http://schemas.microsoft.com/office/powerpoint/2010/main" val="1453971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2430F85-A1B4-41B7-9A47-367784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역할 분담과 AI 윤리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57ACED-D596-45EC-9870-626E66D9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커밋 증거와 각 팀원의 본인 기여 요약을 구분합니다.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EE90736-08CD-491D-AE2C-7342CAF8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4C168F-3E5D-4A88-8E0A-5AE0B266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8D037-4A83-4F3B-A039-BCC921E9D9FB}"/>
              </a:ext>
            </a:extLst>
          </p:cNvPr>
          <p:cNvGraphicFramePr/>
          <p:nvPr/>
        </p:nvGraphicFramePr>
        <p:xfrm>
          <a:off xmlns:a="http://schemas.openxmlformats.org/drawingml/2006/main" x="647700" y="1990725"/>
          <a:ext xmlns:a="http://schemas.openxmlformats.org/drawingml/2006/main" cx="108966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714750"/>
                <a:gridCol w="3848100"/>
              </a:tblGrid>
              <a:tr h="654844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팀원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역할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코드 변경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152B4B"/>
                    </a:solidFill>
                  </a:tcPr>
                </a:tc>
              </a:tr>
              <a:tr h="654844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손재형 / SonJH0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AI·Data, RAG·Agent·검증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7408e14 / 2789a88 / e101485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654844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손재윤 / sonjeyun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백엔드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f228f33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황준식 / kwork0828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프론트엔드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152B4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aec3c4a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E503F51-285A-4AA3-80EF-DF92A31D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AI 고지·미동의 화면 차단·동의 후 상담 3회, 서버 403·안내 본문 3회를 확인했습니다.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세 명의 기여 요약을 작성했고, 키 폐기·피드백 익명 처리는 담당자가 확인했습니다.</a:t>
            </a:r>
          </a:p>
        </p:txBody>
      </p:sp>
    </p:spTree>
    <p:extLst>
      <p:ext uri="{BB962C8B-B14F-4D97-AF65-F5344CB8AC3E}">
        <p14:creationId xmlns:p14="http://schemas.microsoft.com/office/powerpoint/2010/main" val="959906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1587B7B-3792-41D4-BC9C-267721D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현재 한계와 제출 자료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027864-3B77-4292-8B5E-1E1035DC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구현·검증 사실과 아직 확인하지 않은 항목을 함께 공개합니다.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37A2BCB-1BA1-41B9-B50E-7B3B32F7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47C"/>
                </a:solidFill>
                <a:latin typeface="Noto Sans KR"/>
                <a:ea typeface="Noto Sans KR"/>
                <a:cs typeface="Noto Sans KR"/>
              </a:rPr>
              <a:t>AI 취업 비서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EB3765C-318B-4373-B43F-6CB6CCD6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80E8BD9-6CF2-4614-A307-462D635E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남은 확인·개선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8364AB7-C3C7-430F-9131-55FE3EC7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58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공고 원문·모집 상태와 복잡한 조건은 직접 확인이 필요합니다.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무관한 출처·Markdown 원문·내부 처리 표시·민감 정보 질문은 개선점입니다.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초기 명세의 공고 추천 범위를 기준으로 구현·검증 결과를 정리했습니다.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52B4B"/>
                </a:solidFill>
                <a:latin typeface="Noto Sans KR"/>
                <a:ea typeface="Noto Sans KR"/>
                <a:cs typeface="Noto Sans KR"/>
              </a:rPr>
              <a:t>버전별 검증 범위를 구분하고 제출 링크·서비스 유지 상태를 최종 점검합니다.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BC4DE05-78B2-4E5A-B3E8-1BEB93B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서비스  https://ai-job-assistant-xewt.onrender.com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85AD6"/>
                </a:solidFill>
                <a:latin typeface="Noto Sans KR"/>
                <a:ea typeface="Noto Sans KR"/>
                <a:cs typeface="Noto Sans KR"/>
              </a:rPr>
              <a:t>자료 안내  https://github.com/SonJH0/aisupport/blob/main/docs/README.md</a:t>
            </a:r>
          </a:p>
        </p:txBody>
      </p:sp>
    </p:spTree>
    <p:extLst>
      <p:ext uri="{BB962C8B-B14F-4D97-AF65-F5344CB8AC3E}">
        <p14:creationId xmlns:p14="http://schemas.microsoft.com/office/powerpoint/2010/main" val="500595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2026-10-29T04:01:05.8490000Z</dcterms:created>
  <dcterms:modified xsi:type="dcterms:W3CDTF">2026-10-29T04:01:05.8490000Z</dcterms:modified>
</coreProperties>
</file>