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430887fad1c4a7e" /><Relationship Type="http://schemas.openxmlformats.org/officeDocument/2006/relationships/extended-properties" Target="/docProps/app.xml" Id="Rff30d6977ee34ba9" /><Relationship Type="http://schemas.openxmlformats.org/officeDocument/2006/relationships/officeDocument" Target="/ppt/presentation.xml" Id="Rb750a657b1aa4e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f53bac69b34993"/>
  </p:sldMasterIdLst>
  <p:notesMasterIdLst>
    <p:notesMasterId xmlns:r="http://schemas.openxmlformats.org/officeDocument/2006/relationships" r:id="R43033cfaa1554f52"/>
  </p:notesMasterIdLst>
  <p:sldIdLst>
    <p:sldId xmlns:r="http://schemas.openxmlformats.org/officeDocument/2006/relationships" id="256" r:id="R6411f445d9c4493c"/>
    <p:sldId xmlns:r="http://schemas.openxmlformats.org/officeDocument/2006/relationships" id="257" r:id="Raff67e331a1e40c4"/>
    <p:sldId xmlns:r="http://schemas.openxmlformats.org/officeDocument/2006/relationships" id="258" r:id="R6e317fbc5e8f4c23"/>
    <p:sldId xmlns:r="http://schemas.openxmlformats.org/officeDocument/2006/relationships" id="259" r:id="Rfbab2f0678a64bae"/>
    <p:sldId xmlns:r="http://schemas.openxmlformats.org/officeDocument/2006/relationships" id="260" r:id="R4137bc22fdf44d63"/>
    <p:sldId xmlns:r="http://schemas.openxmlformats.org/officeDocument/2006/relationships" id="261" r:id="R31b3f980ac6b4ddb"/>
    <p:sldId xmlns:r="http://schemas.openxmlformats.org/officeDocument/2006/relationships" id="262" r:id="R31a581d422054780"/>
    <p:sldId xmlns:r="http://schemas.openxmlformats.org/officeDocument/2006/relationships" id="263" r:id="R970d163017374856"/>
    <p:sldId xmlns:r="http://schemas.openxmlformats.org/officeDocument/2006/relationships" id="264" r:id="Rc09f88f4761942d7"/>
    <p:sldId xmlns:r="http://schemas.openxmlformats.org/officeDocument/2006/relationships" id="265" r:id="Rf273c9cb4b154612"/>
    <p:sldId xmlns:r="http://schemas.openxmlformats.org/officeDocument/2006/relationships" id="266" r:id="Raa64493e15774dfd"/>
    <p:sldId xmlns:r="http://schemas.openxmlformats.org/officeDocument/2006/relationships" id="267" r:id="R820312024b2849e1"/>
    <p:sldId xmlns:r="http://schemas.openxmlformats.org/officeDocument/2006/relationships" id="268" r:id="R953ec0c47d96474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19ee925b36461a" /><Relationship Type="http://schemas.openxmlformats.org/officeDocument/2006/relationships/slideMaster" Target="/ppt/slideMasters/slideMaster1.xml" Id="R71f53bac69b34993" /><Relationship Type="http://schemas.openxmlformats.org/officeDocument/2006/relationships/notesMaster" Target="/ppt/notesMasters/notesMaster1.xml" Id="R43033cfaa1554f52" /><Relationship Type="http://schemas.openxmlformats.org/officeDocument/2006/relationships/presProps" Target="/ppt/presProps.xml" Id="R13d5e65260084d3b" /><Relationship Type="http://schemas.openxmlformats.org/officeDocument/2006/relationships/tableStyles" Target="/ppt/tableStyles.xml" Id="R1ea430df789d44d4" /><Relationship Type="http://schemas.openxmlformats.org/officeDocument/2006/relationships/slide" Target="/ppt/slides/slide1.xml" Id="R6411f445d9c4493c" /><Relationship Type="http://schemas.openxmlformats.org/officeDocument/2006/relationships/slide" Target="/ppt/slides/slide2.xml" Id="Raff67e331a1e40c4" /><Relationship Type="http://schemas.openxmlformats.org/officeDocument/2006/relationships/slide" Target="/ppt/slides/slide3.xml" Id="R6e317fbc5e8f4c23" /><Relationship Type="http://schemas.openxmlformats.org/officeDocument/2006/relationships/slide" Target="/ppt/slides/slide4.xml" Id="Rfbab2f0678a64bae" /><Relationship Type="http://schemas.openxmlformats.org/officeDocument/2006/relationships/slide" Target="/ppt/slides/slide5.xml" Id="R4137bc22fdf44d63" /><Relationship Type="http://schemas.openxmlformats.org/officeDocument/2006/relationships/slide" Target="/ppt/slides/slide6.xml" Id="R31b3f980ac6b4ddb" /><Relationship Type="http://schemas.openxmlformats.org/officeDocument/2006/relationships/slide" Target="/ppt/slides/slide7.xml" Id="R31a581d422054780" /><Relationship Type="http://schemas.openxmlformats.org/officeDocument/2006/relationships/slide" Target="/ppt/slides/slide8.xml" Id="R970d163017374856" /><Relationship Type="http://schemas.openxmlformats.org/officeDocument/2006/relationships/slide" Target="/ppt/slides/slide9.xml" Id="Rc09f88f4761942d7" /><Relationship Type="http://schemas.openxmlformats.org/officeDocument/2006/relationships/slide" Target="/ppt/slides/slide10.xml" Id="Rf273c9cb4b154612" /><Relationship Type="http://schemas.openxmlformats.org/officeDocument/2006/relationships/slide" Target="/ppt/slides/slide11.xml" Id="Raa64493e15774dfd" /><Relationship Type="http://schemas.openxmlformats.org/officeDocument/2006/relationships/slide" Target="/ppt/slides/slide12.xml" Id="R820312024b2849e1" /><Relationship Type="http://schemas.openxmlformats.org/officeDocument/2006/relationships/slide" Target="/ppt/slides/slide13.xml" Id="R953ec0c47d9647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860c3b78a745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a03896a24364b6e" /><Relationship Type="http://schemas.openxmlformats.org/officeDocument/2006/relationships/notesMaster" Target="/ppt/notesMasters/notesMaster1.xml" Id="Rcefc76b3e8d7468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0bf38163654c85" /><Relationship Type="http://schemas.openxmlformats.org/officeDocument/2006/relationships/notesMaster" Target="/ppt/notesMasters/notesMaster1.xml" Id="R762d528c787d40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4583728e944c1c" /><Relationship Type="http://schemas.openxmlformats.org/officeDocument/2006/relationships/notesMaster" Target="/ppt/notesMasters/notesMaster1.xml" Id="R0d2eda220e0b4c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5501a51e1c4cec" /><Relationship Type="http://schemas.openxmlformats.org/officeDocument/2006/relationships/notesMaster" Target="/ppt/notesMasters/notesMaster1.xml" Id="R9975845829114e6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836a8d99704433" /><Relationship Type="http://schemas.openxmlformats.org/officeDocument/2006/relationships/notesMaster" Target="/ppt/notesMasters/notesMaster1.xml" Id="R1e8e8326135e43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f26455733b448a" /><Relationship Type="http://schemas.openxmlformats.org/officeDocument/2006/relationships/notesMaster" Target="/ppt/notesMasters/notesMaster1.xml" Id="R74af664c87f341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8e5f12b0f5444ab" /><Relationship Type="http://schemas.openxmlformats.org/officeDocument/2006/relationships/notesMaster" Target="/ppt/notesMasters/notesMaster1.xml" Id="R9d462ad046fa438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797bd0e2c234a60" /><Relationship Type="http://schemas.openxmlformats.org/officeDocument/2006/relationships/notesMaster" Target="/ppt/notesMasters/notesMaster1.xml" Id="R3a16aaa1f19a477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bf99b5fef464bc5" /><Relationship Type="http://schemas.openxmlformats.org/officeDocument/2006/relationships/notesMaster" Target="/ppt/notesMasters/notesMaster1.xml" Id="Rae04c6d4d7c9469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a47c27485a248b1" /><Relationship Type="http://schemas.openxmlformats.org/officeDocument/2006/relationships/notesMaster" Target="/ppt/notesMasters/notesMaster1.xml" Id="Rbf8115d77fe5472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b349a8203f14634" /><Relationship Type="http://schemas.openxmlformats.org/officeDocument/2006/relationships/notesMaster" Target="/ppt/notesMasters/notesMaster1.xml" Id="R76d9ae735dea49b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6a0667f87f44ada" /><Relationship Type="http://schemas.openxmlformats.org/officeDocument/2006/relationships/notesMaster" Target="/ppt/notesMasters/notesMaster1.xml" Id="R89f4a9265d21468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3ec52658c504280" /><Relationship Type="http://schemas.openxmlformats.org/officeDocument/2006/relationships/notesMaster" Target="/ppt/notesMasters/notesMaster1.xml" Id="Rfc02abd03b5b4b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서비스: https://ai-job-assistant-xewt.onrender.com</a:t>
            </a:r>
          </a:p>
          <a:p xmlns:a="http://schemas.openxmlformats.org/drawingml/2006/main">
            <a:r>
              <a:t>저장소: https://github.com/SonJH0/aisupport</a:t>
            </a:r>
          </a:p>
          <a:p xmlns:a="http://schemas.openxmlformats.org/drawingml/2006/main">
            <a:r>
              <a:t>현재 구현·관찰·피드백에 근거한 제출 발표 자료. 최종 평가 통과를 확정한 자료는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https://github.com/SonJH0/aisupport/blob/main/docs/프로젝트-기획서.md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https://github.com/SonJH0/aisupport/blob/main/docs/요구사항-정의서.md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https://github.com/SonJH0/aisupport/blob/main/backend/main.py</a:t>
            </a:r>
          </a:p>
          <a:p xmlns:a="http://schemas.openxmlformats.org/drawingml/2006/main">
            <a:r>
              <a:t>출처: https://github.com/SonJH0/aisupport/blob/main/docs/요구사항-정의서.md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https://github.com/SonJH0/aisupport/blob/main/ai/agent.py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https://github.com/SonJH0/aisupport/blob/main/ai/retrieval.py</a:t>
            </a:r>
          </a:p>
          <a:p xmlns:a="http://schemas.openxmlformats.org/drawingml/2006/main">
            <a:r>
              <a:t>출처: https://github.com/SonJH0/aisupport/blob/main/data/knowledge.json</a:t>
            </a:r>
          </a:p>
          <a:p xmlns:a="http://schemas.openxmlformats.org/drawingml/2006/main">
            <a:r>
              <a:t>출처: https://github.com/SonJH0/aisupport/blob/main/ai/agent.py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https://github.com/SonJH0/aisupport/blob/main/docs/verification/search-filter-change.md</a:t>
            </a:r>
          </a:p>
          <a:p xmlns:a="http://schemas.openxmlformats.org/drawingml/2006/main">
            <a:r>
              <a:t>출처: https://github.com/SonJH0/aisupport/blob/main/docs/verification/incruit-filter-fix.md</a:t>
            </a:r>
          </a:p>
          <a:p xmlns:a="http://schemas.openxmlformats.org/drawingml/2006/main">
            <a:r>
              <a:t>출처: https://github.com/SonJH0/aisupport/commit/e101485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https://github.com/SonJH0/aisupport/blob/main/docs/verification/deployment-validation.md</a:t>
            </a:r>
          </a:p>
          <a:p xmlns:a="http://schemas.openxmlformats.org/drawingml/2006/main">
            <a:r>
              <a:t>출처: https://github.com/SonJH0/aisupport/blob/main/docs/verification/incruit-filter-tests.xml</a:t>
            </a:r>
          </a:p>
          <a:p xmlns:a="http://schemas.openxmlformats.org/drawingml/2006/main">
            <a:r>
              <a:t>출처: https://github.com/SonJH0/aisupport/blob/main/docs/image-validation/image-validation.md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https://github.com/SonJH0/aisupport/blob/main/ai/vision.py</a:t>
            </a:r>
          </a:p>
          <a:p xmlns:a="http://schemas.openxmlformats.org/drawingml/2006/main">
            <a:r>
              <a:t>출처: https://github.com/SonJH0/aisupport/blob/main/docs/image-validation/image-validation.md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https://github.com/SonJH0/aisupport/blob/main/docs/사용자-피드백-기록.md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https://github.com/SonJH0/aisupport/blob/main/docs/사용자-피드백-기록.md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https://github.com/SonJH0/aisupport/blob/main/docs/팀원별-기여.md</a:t>
            </a:r>
          </a:p>
          <a:p xmlns:a="http://schemas.openxmlformats.org/drawingml/2006/main">
            <a:r>
              <a:t>출처: https://github.com/SonJH0/aisupport/blob/main/frontend/index.html</a:t>
            </a:r>
          </a:p>
          <a:p xmlns:a="http://schemas.openxmlformats.org/drawingml/2006/main">
            <a:r>
              <a:t>출처: https://github.com/SonJH0/aisupport/blob/main/backend/main.py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https://github.com/SonJH0/aisupport/blob/main/docs/진행-및-제출현황.md</a:t>
            </a:r>
          </a:p>
          <a:p xmlns:a="http://schemas.openxmlformats.org/drawingml/2006/main">
            <a:r>
              <a:t>출처: https://github.com/SonJH0/aisupport/blob/main/docs/요구사항-정의서.md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005ad3e7fd4ea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d0e340580247c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577ab5dc04474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21d1067f1b466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196de7593d49b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e5e8ee946140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B6434E8-A64E-4CC2-AB46-F733DD0B90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4EA5D19-3E2F-4746-83EE-D8751085D81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0612446-2209-4380-A0C1-2AF0793487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BC0B10-ADF6-46B2-9B4D-DB05925BD8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2309B1B-DB08-4343-9D16-85FA25B869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0A49449-DC4A-46E9-BC14-17B11F7741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8935732-B972-4DF0-B52F-884947316C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E48D588-27D6-40DB-B9DE-92F34641EF4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257649-819E-4DD3-A693-0899CA5B65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B5194EB-93DD-4457-9E4A-B77BA71B2B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66f00de2d124767" /><Relationship Type="http://schemas.openxmlformats.org/officeDocument/2006/relationships/slideLayout" Target="/ppt/slideLayouts/slideLayout1.xml" Id="R7fa4d22e98ae44e3" /><Relationship Type="http://schemas.openxmlformats.org/officeDocument/2006/relationships/slideLayout" Target="/ppt/slideLayouts/slideLayout2.xml" Id="R83583782afa1416c" /><Relationship Type="http://schemas.openxmlformats.org/officeDocument/2006/relationships/slideLayout" Target="/ppt/slideLayouts/slideLayout3.xml" Id="Rd4f827288f254ccc" /><Relationship Type="http://schemas.openxmlformats.org/officeDocument/2006/relationships/slideLayout" Target="/ppt/slideLayouts/slideLayout4.xml" Id="R67832741aa1f4601" /><Relationship Type="http://schemas.openxmlformats.org/officeDocument/2006/relationships/slideLayout" Target="/ppt/slideLayouts/slideLayout5.xml" Id="R13b01eac85244474" /><Relationship Type="http://schemas.openxmlformats.org/officeDocument/2006/relationships/slideLayout" Target="/ppt/slideLayouts/slideLayout6.xml" Id="R6ec6d2315f394bc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a4d22e98ae44e3"/>
    <p:sldLayoutId xmlns:r="http://schemas.openxmlformats.org/officeDocument/2006/relationships" id="2147483650" r:id="R83583782afa1416c"/>
    <p:sldLayoutId xmlns:r="http://schemas.openxmlformats.org/officeDocument/2006/relationships" id="2147483651" r:id="Rd4f827288f254ccc"/>
    <p:sldLayoutId xmlns:r="http://schemas.openxmlformats.org/officeDocument/2006/relationships" id="2147483652" r:id="R67832741aa1f4601"/>
    <p:sldLayoutId xmlns:r="http://schemas.openxmlformats.org/officeDocument/2006/relationships" id="2147483653" r:id="R13b01eac85244474"/>
    <p:sldLayoutId xmlns:r="http://schemas.openxmlformats.org/officeDocument/2006/relationships" id="2147483654" r:id="R6ec6d2315f394bc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7c30e8086d4060" /><Relationship Type="http://schemas.openxmlformats.org/officeDocument/2006/relationships/notesSlide" Target="/ppt/notesSlides/notesSlide1.xml" Id="Rc79b4027d2f040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b7276770764dd4" /><Relationship Type="http://schemas.openxmlformats.org/officeDocument/2006/relationships/notesSlide" Target="/ppt/notesSlides/notesSlide2.xml" Id="R14d6bd656f4f47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a98cfff4984d4d" /><Relationship Type="http://schemas.openxmlformats.org/officeDocument/2006/relationships/notesSlide" Target="/ppt/notesSlides/notesSlide3.xml" Id="Raf1bdc23b37b4d8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11b8e3764041d0" /><Relationship Type="http://schemas.openxmlformats.org/officeDocument/2006/relationships/notesSlide" Target="/ppt/notesSlides/notesSlide4.xml" Id="R7b1dd3dab33e469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dca86cfb6241a1" /><Relationship Type="http://schemas.openxmlformats.org/officeDocument/2006/relationships/notesSlide" Target="/ppt/notesSlides/notesSlide5.xml" Id="Rbf7eb5381f3642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47708a85f7449f" /><Relationship Type="http://schemas.openxmlformats.org/officeDocument/2006/relationships/notesSlide" Target="/ppt/notesSlides/notesSlide6.xml" Id="R763789aa11194bf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f43eda13d5420a" /><Relationship Type="http://schemas.openxmlformats.org/officeDocument/2006/relationships/notesSlide" Target="/ppt/notesSlides/notesSlide7.xml" Id="R7651fabecc92424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0ae4e8768a4182" /><Relationship Type="http://schemas.openxmlformats.org/officeDocument/2006/relationships/notesSlide" Target="/ppt/notesSlides/notesSlide8.xml" Id="R8611945a1a3b4ad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176f30caa349c5" /><Relationship Type="http://schemas.openxmlformats.org/officeDocument/2006/relationships/image" Target="/ppt/media/image.png" Id="R6056c86905764d42" /><Relationship Type="http://schemas.openxmlformats.org/officeDocument/2006/relationships/notesSlide" Target="/ppt/notesSlides/notesSlide9.xml" Id="R1bd56be60069495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775f8042d14d8b" /><Relationship Type="http://schemas.openxmlformats.org/officeDocument/2006/relationships/notesSlide" Target="/ppt/notesSlides/notesSlide10.xml" Id="R43867c590c594a8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6fbdfe3c584a0d" /><Relationship Type="http://schemas.openxmlformats.org/officeDocument/2006/relationships/notesSlide" Target="/ppt/notesSlides/notesSlide11.xml" Id="R897402d5f36f4c1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49a7246a6e4e10" /><Relationship Type="http://schemas.openxmlformats.org/officeDocument/2006/relationships/notesSlide" Target="/ppt/notesSlides/notesSlide12.xml" Id="Ra016b06f3efe442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e3d148de314542" /><Relationship Type="http://schemas.openxmlformats.org/officeDocument/2006/relationships/notesSlide" Target="/ppt/notesSlides/notesSlide13.xml" Id="Rd5e70282bb154e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2B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97A52E15-4BE9-4706-8271-6323FD4A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0E8062D-0077-44F3-8375-D2866622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68CF6056-11A1-4310-8285-94FAEBCC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D2E7674-603F-4806-837F-9FB90593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D42CC117-0866-4F2D-AB70-E87482FC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86075"/>
            <a:ext cx="10382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rPr>
              <a:t>공고와 경험을 근거로 정리하는 취업 준비 도우미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F5A50702-0E20-46F4-B77E-F95592C5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손재형 · 손재윤 · 황준식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98B8BF83-7E73-433B-891C-7D10E163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rPr>
              <a:t>코디세이 AI Native Final Project  /  2026.10.29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395A8CEE-0A1B-47C3-A63A-78AB20A9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rPr>
              <a:t>ai-job-assistant-xewt.onrender.com</a:t>
            </a:r>
          </a:p>
        </p:txBody>
      </p:sp>
    </p:spTree>
    <p:extLst>
      <p:ext uri="{BB962C8B-B14F-4D97-AF65-F5344CB8AC3E}">
        <p14:creationId xmlns:p14="http://schemas.microsoft.com/office/powerpoint/2010/main" val="17867478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0">
            <a:extLst xmlns:a="http://schemas.openxmlformats.org/drawingml/2006/main">
              <a:ext uri="{FF2B5EF4-FFF2-40B4-BE49-F238E27FC236}">
                <a16:creationId xmlns:a16="http://schemas.microsoft.com/office/drawing/2014/main" id="{6B240631-D0F7-407D-B326-4BC7DDBC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문제와 대상 사용자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122AAC70-3B9C-4855-B5C2-76DB09D6F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취업 준비 과정에서 자료 탐색과 경험 정리를 돕고자 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A27AC2EF-0951-4079-94C6-9039165C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3C06EF9-B08B-4DC9-BCD6-20A46905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BEFE34B-2010-4662-9758-22140165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대상 사용자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8E9C5C59-3023-4488-84B6-E47FF81D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67025"/>
            <a:ext cx="48196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채용공고를 읽고 자신의 경험을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정리하려는 구직·이직 준비자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37AA7DB-0F42-4916-AF86-8594E8CE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098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해결하려는 불편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C096254E-0238-4AE1-BE01-B4C7FC2E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67025"/>
            <a:ext cx="5048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관련 학습 자료를 찾기 어려움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공고 요건과 경험 비교의 부담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미기재 경험을 단정하는 AI 답변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998FB4AE-B0B6-47A8-A294-D66207F2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문제 가설을 바탕으로 구현했습니다. 시간 절감·취업 성과를 수치로 측정하지는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9463525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834689A4-E482-42B8-8861-76D459CA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서비스의 네 가지 기능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1F89F31E-C97C-4A86-A190-AADB338C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로그인 없이 질문·경험·공고 또는 이미지를 입력합니다.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6ED8FCA-3ACA-470F-AFC0-3E3B770D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90B09A0-C510-4A25-ADDC-571FEC14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B1DC82-5330-4CD7-BAE5-DFC79BFE7303}"/>
              </a:ext>
            </a:extLst>
          </p:cNvPr>
          <p:cNvGraphicFramePr/>
          <p:nvPr/>
        </p:nvGraphicFramePr>
        <p:xfrm>
          <a:off xmlns:a="http://schemas.openxmlformats.org/drawingml/2006/main" x="647700" y="2076450"/>
          <a:ext xmlns:a="http://schemas.openxmlformats.org/drawingml/2006/main" cx="108966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3333750"/>
                <a:gridCol w="5562600"/>
              </a:tblGrid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기능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제공 결과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상담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취업·학습 질문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자료 검색과 출처를 활용한 안내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후보 검색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직무·기술·신입 조건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검색 링크와 조건 확인 상태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적합도 비교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채용공고 본문과 내 경험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일치·차이·정보 부족 및 보완점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 분석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이미지와 질문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 판독과 미제공 정보 구분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14166687-87B3-497C-AF41-C69B0CA3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답변은 참고용입니다. 공고 원문·모집 상태와 실제 지원 요건은 별도로 확인해야 합니다.</a:t>
            </a:r>
          </a:p>
        </p:txBody>
      </p:sp>
    </p:spTree>
    <p:extLst>
      <p:ext uri="{BB962C8B-B14F-4D97-AF65-F5344CB8AC3E}">
        <p14:creationId xmlns:p14="http://schemas.microsoft.com/office/powerpoint/2010/main" val="5888799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0EAEDDFE-A36F-4B53-A95F-3516C87F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시스템 구성과 기술 선택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40C3E17-41CA-4B47-9D78-F3EEA664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Render의 FastAPI 서버가 화면과 API를 함께 제공합니다.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4803F52-FB57-4189-A93A-78015D5E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53143825-D90E-4571-81BA-17A1CC61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28A59C-DBB8-4D60-81E8-C218C1408190}"/>
              </a:ext>
            </a:extLst>
          </p:cNvPr>
          <p:cNvGraphicFramePr/>
          <p:nvPr/>
        </p:nvGraphicFramePr>
        <p:xfrm>
          <a:off xmlns:a="http://schemas.openxmlformats.org/drawingml/2006/main" x="647700" y="2000250"/>
          <a:ext xmlns:a="http://schemas.openxmlformats.org/drawingml/2006/main" cx="10896600" cy="3571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4476750"/>
                <a:gridCol w="4800600"/>
              </a:tblGrid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이유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 · CSS · JavaScript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별도 빌드 없이 질문·첨부·결과 화면 제공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서버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Python · FastAPI · Pydantic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코드 통합과 입력·동의 검증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텍스트·이미지 AI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코디세이 OpenAI / Claude 호환 API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도구 선택·상담과 이미지 직접 해석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검색·배포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로컬 JSON / Brave Search / Render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문서 근거 검색과 공고 후보 확보·공개 접속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5AEA9BAB-6872-4E18-9373-509A47BB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브라우저 요청을 검증한 뒤 텍스트 Agent 또는 이미지 모델 경로로 전달합니다.</a:t>
            </a:r>
          </a:p>
        </p:txBody>
      </p:sp>
    </p:spTree>
    <p:extLst>
      <p:ext uri="{BB962C8B-B14F-4D97-AF65-F5344CB8AC3E}">
        <p14:creationId xmlns:p14="http://schemas.microsoft.com/office/powerpoint/2010/main" val="10558396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966B98B2-CC0B-4B44-A3DF-56F7AE70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Agent의 도구 선택과 실행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9F780AA3-A365-476A-9785-F0BE5FAB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LLM이 도구와 인자를 선택하고, 서버가 검사 후 실제 함수를 실행합니다.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481617FF-2F65-437B-962F-DFDA04D1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0BF2B92-84EA-49C5-8710-427B951A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40CA27-F10B-4990-BB98-F9B28967A427}"/>
              </a:ext>
            </a:extLst>
          </p:cNvPr>
          <p:cNvGraphicFramePr/>
          <p:nvPr/>
        </p:nvGraphicFramePr>
        <p:xfrm>
          <a:off xmlns:a="http://schemas.openxmlformats.org/drawingml/2006/main" x="647700" y="2076450"/>
          <a:ext xmlns:a="http://schemas.openxmlformats.org/drawingml/2006/main" cx="108966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6750"/>
                <a:gridCol w="6419850"/>
              </a:tblGrid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가능한 도구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search_documents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질문과 관련된 문서 본문 검색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search_live_jobs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인터넷에서 공고 후보 검색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get_job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저장된 공고 ID 상세 조회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compare_requirements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사용자가 입력한 공고와 경험 비교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00912D10-26BB-431B-AB4D-9C0D1D55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네이티브 tool_calls를 우선 사용합니다. 미지원 시 JSON 계획을 검증·실행합니다.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JSON 경로는 단일 계획 후 실행이며, 여러 번 재계획했다고 주장하지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793564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3382ACA1-BD08-425B-8786-C4AAE326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RAG의 질문별 문서 검색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2296AD6-80E7-4D81-BE2D-68DF3D6A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외부 공식 문서의 팀 요약과 저장 공고 후보 본문을 검색합니다.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683CE05-0C4B-4EE4-BC49-53A1C233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B2BC1B1-A7CB-4394-934B-C1D302F1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F748455D-A9AA-47B0-9240-09CE8B91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574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검색 방식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0D5321E4-6013-4ED0-8817-326D5899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57475"/>
            <a:ext cx="523875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질문마다 TF-IDF·코사인 유사도로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관련 문단을 찾습니다.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검색 본문과 문단 ID를 LLM에 넣고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답변에서 사용한 출처를 표시합니다.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72FD53-C9E3-4825-A8A0-16E6C825C3A9}"/>
              </a:ext>
            </a:extLst>
          </p:cNvPr>
          <p:cNvGraphicFramePr/>
          <p:nvPr/>
        </p:nvGraphicFramePr>
        <p:xfrm>
          <a:off xmlns:a="http://schemas.openxmlformats.org/drawingml/2006/main" x="6324600" y="2133600"/>
          <a:ext xmlns:a="http://schemas.openxmlformats.org/drawingml/2006/main" cx="52197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19350"/>
                <a:gridCol w="2800350"/>
              </a:tblGrid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 예시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검색 근거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API 요청·입력 검증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FastAPI / backend-1·2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 폼·접근성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MDN / frontend-1·2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 결합·요약 통계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pandas / data-1·2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128FC3F8-D923-48CF-88D5-D30D05AA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고정 문구를 항상 붙이는 방식과 구분됩니다. 의미 임베딩은 사용하지 않으며 자료집 규모에 한계가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0675860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C5C9A736-B4EF-4BDA-8328-99B65767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기술 테스트에서 발견한 문제와 보완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D585F51-D878-4982-A9DE-FF7D054F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초기 검색 필터와 후속 상담 오류를 기술 검증으로 보완했습니다.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54146696-88AC-414E-BD55-FF77ECD0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0C32B12-7543-4297-84A4-D6907F56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198857-54CE-4107-8787-125690D35F45}"/>
              </a:ext>
            </a:extLst>
          </p:cNvPr>
          <p:cNvGraphicFramePr/>
          <p:nvPr/>
        </p:nvGraphicFramePr>
        <p:xfrm>
          <a:off xmlns:a="http://schemas.openxmlformats.org/drawingml/2006/main" x="647700" y="2028825"/>
          <a:ext xmlns:a="http://schemas.openxmlformats.org/drawingml/2006/main" cx="108966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953000"/>
                <a:gridCol w="5943600"/>
              </a:tblGrid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발견한 문제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보완 내용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강의·검색 목록이 공고에 혼입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페이지 유형 필터와 개별 후보 표시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신입 제목과 경력 하한의 충돌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경력 하한을 확인해 충돌 결과 제외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기술·신입 여부가 불명확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요약 기준 조건 일치 / 추가 확인 필요 구분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 누락·일반 상담 계획 오류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 필터·도구 없는 상담·검색 거부 처리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BA236FF2-AC70-4B50-8B55-7FFFA92FB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초기 필터 보완 후 bb1885e에서 상담·검색 의도 처리를 보완했습니다. 모든 사이트를 보장하지는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383867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51E59976-2337-4EE9-BEF6-B5637DED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기능 검증 결과와 범위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4FD21A6-553B-4C8E-B55E-9A04A8D4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수정 전 시험과 bb1885e의 선택 회귀 시험을 구분했습니다.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11CB2043-94BE-47E6-BAB3-8FB183FE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B6C48755-7601-47BF-ADF9-384B1C8C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F87CDB-BFA0-4631-AA14-D5CDD3D98D50}"/>
              </a:ext>
            </a:extLst>
          </p:cNvPr>
          <p:cNvGraphicFramePr/>
          <p:nvPr/>
        </p:nvGraphicFramePr>
        <p:xfrm>
          <a:off xmlns:a="http://schemas.openxmlformats.org/drawingml/2006/main" x="647700" y="2076450"/>
          <a:ext xmlns:a="http://schemas.openxmlformats.org/drawingml/2006/main" cx="108966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381500"/>
                <a:gridCol w="4419600"/>
              </a:tblGrid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검증 대상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관찰 범위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기록한 결과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문서 검색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전 백엔드·프론트·pandas 3회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3/3 문단·출처·조언 확인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검색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전 3종 / 수정 후 Python 1회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후보·링크 확인 / 모집 상태 미확인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경험 비교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전 3개 입력 사례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2/3 충족·1회 부분 충족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 분석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API 3회 / 사용자 화면 3회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각 시험의 핵심 기대 결과 확인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2C63CFB4-0BA1-4821-A3FD-CE8E15EC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기존 74개·보완 97개 자동 검사 기록. 수정 전 시험과 최신 회귀 결과는 합산하지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207437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7AC73655-841C-4BF7-BA0F-2C7EF16B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이미지 입력의 실제 판독 사례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A21C246-1F89-45D2-84CF-53C6490DD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텍스트 질문에 없는 이미지 속 요건을 읽고 경험과 비교했습니다.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3A05B0E7-02AA-46E0-AFA2-DDD90C7E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6B13F02-26FC-408C-9A5D-E97EB07F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1951E7-1FB8-4E64-8E57-1ACDDFED05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56c86905764d42"/>
          <a:stretch xmlns:a="http://schemas.openxmlformats.org/drawingml/2006/main"/>
        </p:blipFill>
        <p:spPr>
          <a:xfrm xmlns:a="http://schemas.openxmlformats.org/drawingml/2006/main">
            <a:off x="621564" y="2057400"/>
            <a:ext cx="5910146" cy="4038600"/>
          </a:xfrm>
          <a:prstGeom xmlns:a="http://schemas.openxmlformats.org/drawingml/2006/main" prst="rect">
            <a:avLst/>
          </a:prstGeom>
        </p:spPr>
      </p:pic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64D0F586-AEF1-43B3-86A3-AF7560DD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1526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확인한 분류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DF928B4F-5CDE-4217-96BE-B720F7A7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71775"/>
            <a:ext cx="4572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Python 2년 요건 / 경험 1년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명시된 차이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SQL 프로젝트 경험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AWS 경험 미기재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정보 부족</a:t>
            </a:r>
          </a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75FD6B94-02A4-4CCC-82E9-75A97656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436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그 외 미제공 정보와 카페 영수증도 시험했습니다. 이미지 출처 관련성·화면 가독성은 개선점으로 남았습니다.</a:t>
            </a:r>
          </a:p>
        </p:txBody>
      </p:sp>
    </p:spTree>
    <p:extLst>
      <p:ext uri="{BB962C8B-B14F-4D97-AF65-F5344CB8AC3E}">
        <p14:creationId xmlns:p14="http://schemas.microsoft.com/office/powerpoint/2010/main" val="8587480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E8BF218F-EA0D-4A90-BBE1-59F3A5BF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실사용자 5명의 피드백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62143E1-EC93-464B-9991-E3C2886F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2026.10.28 이용·응답. 개발 직무 준비생 5명, 팀원 제외·익명 활용 동의.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ED858A3-AA8B-4E4A-90E7-2F727611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C5D2CC4F-54B4-4877-A396-8BCF91420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6FF293-605B-403C-B109-04E7EE3EB342}"/>
              </a:ext>
            </a:extLst>
          </p:cNvPr>
          <p:cNvGraphicFramePr/>
          <p:nvPr/>
        </p:nvGraphicFramePr>
        <p:xfrm>
          <a:off xmlns:a="http://schemas.openxmlformats.org/drawingml/2006/main" x="647700" y="2019300"/>
          <a:ext xmlns:a="http://schemas.openxmlformats.org/drawingml/2006/main" cx="10896600" cy="3648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76300"/>
                <a:gridCol w="2857500"/>
                <a:gridCol w="7162800"/>
              </a:tblGrid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가명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확인된 강점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의견 원문 발췌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비교와 준비 우선순위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어떤 부분부터 우선순위를 두고 준비해야 할지 파악하기 쉬웠음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미기재 경험의 신중한 해석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신중하게 안내해 준다는 느낌을 받아 신뢰가 갔습니다.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 자료 연결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관련 자료로 바로 이동할 수 있어서 효율적으로 대처할 수 있었다.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이미지 첨부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시간을 확 줄여줘서 만족스럽습니다.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진입과 기능 구분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로그인 과정 없이 바로 사용할 수 있어서 접근성이 좋았어요.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25C49175-85E9-48D4-8E3B-5698871AE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245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대상·날짜·동의는 프로젝트 담당자 확인입니다. 시간 절감은 체감 의견이며 정량 측정 결과가 아닙니다.</a:t>
            </a:r>
          </a:p>
        </p:txBody>
      </p:sp>
    </p:spTree>
    <p:extLst>
      <p:ext uri="{BB962C8B-B14F-4D97-AF65-F5344CB8AC3E}">
        <p14:creationId xmlns:p14="http://schemas.microsoft.com/office/powerpoint/2010/main" val="4815655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0AF05FD3-4C6E-4DC7-BF28-D4E08723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피드백 이후의 검토 결과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A9D041C-F94C-41D5-BADD-6AF25636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긍정적 의견과 추가 개발 요청의 유무를 구분했습니다.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373F420-93AB-4D51-ACDA-7043FBC8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528E72D2-6046-4500-AC61-EE646643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5FBFE178-A150-4DEE-8BD8-C3C501EA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76475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피드백에 따른 기능 수정 없음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ACA22B2-55B1-419E-8864-A24ED2F7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다섯 의견 모두 긍정적이었고 별도의 수정 요청이 없어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현재 기능을 유지하기로 했습니다.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35E4DF3D-36B5-4354-A59C-057AC099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긍정적 의견은 기능 유지로 반영했습니다.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후속 bb1885e 수정은 별도 기술 시험에서 발견한 상담·검색 오류에 따른 작업입니다.</a:t>
            </a:r>
          </a:p>
        </p:txBody>
      </p:sp>
    </p:spTree>
    <p:extLst>
      <p:ext uri="{BB962C8B-B14F-4D97-AF65-F5344CB8AC3E}">
        <p14:creationId xmlns:p14="http://schemas.microsoft.com/office/powerpoint/2010/main" val="14539716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B2430F85-A1B4-41B7-9A47-367784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역할 분담과 AI 윤리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8757ACED-D596-45EC-9870-626E66D9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커밋 증거와 각 팀원의 본인 기여 요약을 구분합니다.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EE90736-08CD-491D-AE2C-7342CAF8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64C168F-3E5D-4A88-8E0A-5AE0B266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D45A0A-671D-443F-AA33-9A0C464D1BE8}"/>
              </a:ext>
            </a:extLst>
          </p:cNvPr>
          <p:cNvGraphicFramePr/>
          <p:nvPr/>
        </p:nvGraphicFramePr>
        <p:xfrm>
          <a:off xmlns:a="http://schemas.openxmlformats.org/drawingml/2006/main" x="647700" y="1990725"/>
          <a:ext xmlns:a="http://schemas.openxmlformats.org/drawingml/2006/main" cx="10896600" cy="2619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3714750"/>
                <a:gridCol w="3848100"/>
              </a:tblGrid>
              <a:tr h="654844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팀원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기존 역할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코드 변경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54844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손재형 / SonJH0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AI·Data, RAG·Agent·검증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7408e14 / 2789a88 / e101485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54844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손재윤 / sonjeyun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백엔드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f228f33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4844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황준식 / kwork0828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프론트엔드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aec3c4a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5E503F51-285A-4AA3-80EF-DF92A31D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05400"/>
            <a:ext cx="10858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AI 고지·화면 동의 차단·서버 미동의 403 응답 3회를 확인했습니다.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세 명의 기여 요약을 작성했고, 키 폐기·피드백 익명 처리는 담당자가 확인했습니다.</a:t>
            </a:r>
          </a:p>
        </p:txBody>
      </p:sp>
    </p:spTree>
    <p:extLst>
      <p:ext uri="{BB962C8B-B14F-4D97-AF65-F5344CB8AC3E}">
        <p14:creationId xmlns:p14="http://schemas.microsoft.com/office/powerpoint/2010/main" val="9599062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21587B7B-3792-41D4-BC9C-267721DA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현재 한계와 제출 자료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F027864-3B77-4292-8B5E-1E1035DC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구현·검증 사실과 아직 확인하지 않은 항목을 함께 공개합니다.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37A2BCB-1BA1-41B9-B50E-7B3B32F76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5EB3765C-318B-4373-B43F-6CB6CCD6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580E8BD9-6CF2-4614-A307-462D635E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남은 확인·개선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48364AB7-C3C7-430F-9131-55FE3EC7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05100"/>
            <a:ext cx="108585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공고 원문·모집 상태와 복잡한 조건은 직접 확인이 필요합니다.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무관한 출처·Markdown 원문·내부 처리 표시·민감 정보 질문은 개선점입니다.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초기 명세의 공고 추천 범위를 기준으로 구현·검증 결과를 정리했습니다.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남은 텍스트 회귀 확인과 제출 링크·서비스 유지 상태를 최종 점검합니다.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2BC4DE05-78B2-4E5A-B3E8-1BEB93BC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14975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서비스  https://ai-job-assistant-xewt.onrender.com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자료 안내  https://github.com/SonJH0/aisupport/blob/main/docs/README.md</a:t>
            </a:r>
          </a:p>
        </p:txBody>
      </p:sp>
    </p:spTree>
    <p:extLst>
      <p:ext uri="{BB962C8B-B14F-4D97-AF65-F5344CB8AC3E}">
        <p14:creationId xmlns:p14="http://schemas.microsoft.com/office/powerpoint/2010/main" val="5005959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2026-10-29T01:38:35.5260000Z</dcterms:created>
  <dcterms:modified xsi:type="dcterms:W3CDTF">2026-10-29T01:38:35.5260000Z</dcterms:modified>
</coreProperties>
</file>